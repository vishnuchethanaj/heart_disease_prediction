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9" r:id="rId4"/>
    <p:sldId id="261" r:id="rId5"/>
    <p:sldId id="262" r:id="rId6"/>
    <p:sldId id="268" r:id="rId7"/>
    <p:sldId id="267" r:id="rId8"/>
    <p:sldId id="259" r:id="rId9"/>
    <p:sldId id="260" r:id="rId10"/>
    <p:sldId id="266" r:id="rId11"/>
    <p:sldId id="265" r:id="rId12"/>
    <p:sldId id="26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F55B56-27B3-4C32-960D-A16AF4EE92A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3E2FB4-9E0A-4077-BC10-33A165EEA8B7}">
      <dgm:prSet/>
      <dgm:spPr/>
      <dgm:t>
        <a:bodyPr/>
        <a:lstStyle/>
        <a:p>
          <a:r>
            <a:rPr lang="en-US" b="0" i="0" baseline="0"/>
            <a:t>Analyze heart disease dataset</a:t>
          </a:r>
          <a:endParaRPr lang="en-US"/>
        </a:p>
      </dgm:t>
    </dgm:pt>
    <dgm:pt modelId="{BE58F0D2-E4BB-4460-B6BF-7CA79F8A8BBE}" type="parTrans" cxnId="{E484076C-A7B2-4D13-8F16-CD29BFEE65BE}">
      <dgm:prSet/>
      <dgm:spPr/>
      <dgm:t>
        <a:bodyPr/>
        <a:lstStyle/>
        <a:p>
          <a:endParaRPr lang="en-US"/>
        </a:p>
      </dgm:t>
    </dgm:pt>
    <dgm:pt modelId="{6BF6A6F4-01A6-4086-9CD2-6A2C15B6CB91}" type="sibTrans" cxnId="{E484076C-A7B2-4D13-8F16-CD29BFEE65BE}">
      <dgm:prSet/>
      <dgm:spPr/>
      <dgm:t>
        <a:bodyPr/>
        <a:lstStyle/>
        <a:p>
          <a:endParaRPr lang="en-US"/>
        </a:p>
      </dgm:t>
    </dgm:pt>
    <dgm:pt modelId="{84D7ADB2-815A-4CEF-B08F-3B2A7A52522E}">
      <dgm:prSet/>
      <dgm:spPr/>
      <dgm:t>
        <a:bodyPr/>
        <a:lstStyle/>
        <a:p>
          <a:r>
            <a:rPr lang="en-US" b="0" i="0" baseline="0"/>
            <a:t>Preprocess data for ANN</a:t>
          </a:r>
          <a:endParaRPr lang="en-US"/>
        </a:p>
      </dgm:t>
    </dgm:pt>
    <dgm:pt modelId="{9AB64B92-9952-44BE-A0CD-89600B1EFB93}" type="parTrans" cxnId="{F17C6386-25ED-4AAA-BBE0-263307A967A9}">
      <dgm:prSet/>
      <dgm:spPr/>
      <dgm:t>
        <a:bodyPr/>
        <a:lstStyle/>
        <a:p>
          <a:endParaRPr lang="en-US"/>
        </a:p>
      </dgm:t>
    </dgm:pt>
    <dgm:pt modelId="{AB2AC55B-D5E7-40A4-99D1-924C12E13399}" type="sibTrans" cxnId="{F17C6386-25ED-4AAA-BBE0-263307A967A9}">
      <dgm:prSet/>
      <dgm:spPr/>
      <dgm:t>
        <a:bodyPr/>
        <a:lstStyle/>
        <a:p>
          <a:endParaRPr lang="en-US"/>
        </a:p>
      </dgm:t>
    </dgm:pt>
    <dgm:pt modelId="{4B8B1A06-7398-4A90-AE88-D896D8445331}">
      <dgm:prSet/>
      <dgm:spPr/>
      <dgm:t>
        <a:bodyPr/>
        <a:lstStyle/>
        <a:p>
          <a:r>
            <a:rPr lang="en-US" b="0" i="0" baseline="0"/>
            <a:t>Design &amp; implement ANN model</a:t>
          </a:r>
          <a:endParaRPr lang="en-US"/>
        </a:p>
      </dgm:t>
    </dgm:pt>
    <dgm:pt modelId="{7374ECE9-7DDB-4951-9868-2409A36A4A4D}" type="parTrans" cxnId="{36D46762-BBBB-4C2E-BA7B-2BDCCBE8B43C}">
      <dgm:prSet/>
      <dgm:spPr/>
      <dgm:t>
        <a:bodyPr/>
        <a:lstStyle/>
        <a:p>
          <a:endParaRPr lang="en-US"/>
        </a:p>
      </dgm:t>
    </dgm:pt>
    <dgm:pt modelId="{A6A2F2C4-E14E-4000-B9AE-2676DE120E74}" type="sibTrans" cxnId="{36D46762-BBBB-4C2E-BA7B-2BDCCBE8B43C}">
      <dgm:prSet/>
      <dgm:spPr/>
      <dgm:t>
        <a:bodyPr/>
        <a:lstStyle/>
        <a:p>
          <a:endParaRPr lang="en-US"/>
        </a:p>
      </dgm:t>
    </dgm:pt>
    <dgm:pt modelId="{ABB3C503-B792-4EE9-ABC6-36920633C95D}">
      <dgm:prSet/>
      <dgm:spPr/>
      <dgm:t>
        <a:bodyPr/>
        <a:lstStyle/>
        <a:p>
          <a:r>
            <a:rPr lang="en-US" b="0" i="0" baseline="0"/>
            <a:t>Train using backpropagation</a:t>
          </a:r>
          <a:endParaRPr lang="en-US"/>
        </a:p>
      </dgm:t>
    </dgm:pt>
    <dgm:pt modelId="{006ECDE9-4640-4F21-89D0-08E0EB1E520C}" type="parTrans" cxnId="{1E8F2904-6EEB-43C6-9822-BC436A4CCDC3}">
      <dgm:prSet/>
      <dgm:spPr/>
      <dgm:t>
        <a:bodyPr/>
        <a:lstStyle/>
        <a:p>
          <a:endParaRPr lang="en-US"/>
        </a:p>
      </dgm:t>
    </dgm:pt>
    <dgm:pt modelId="{8EA741B6-6D0C-4939-955A-FEC56A8CB36D}" type="sibTrans" cxnId="{1E8F2904-6EEB-43C6-9822-BC436A4CCDC3}">
      <dgm:prSet/>
      <dgm:spPr/>
      <dgm:t>
        <a:bodyPr/>
        <a:lstStyle/>
        <a:p>
          <a:endParaRPr lang="en-US"/>
        </a:p>
      </dgm:t>
    </dgm:pt>
    <dgm:pt modelId="{231834C4-705E-4108-B89A-BF744D1157FB}">
      <dgm:prSet/>
      <dgm:spPr/>
      <dgm:t>
        <a:bodyPr/>
        <a:lstStyle/>
        <a:p>
          <a:r>
            <a:rPr lang="en-US" b="0" i="0" baseline="0"/>
            <a:t>Evaluate using Accuracy, Confusion Matrix, ROC &amp; AUC</a:t>
          </a:r>
          <a:endParaRPr lang="en-US"/>
        </a:p>
      </dgm:t>
    </dgm:pt>
    <dgm:pt modelId="{EE448474-6B7D-4F9D-82F2-ACF755A09C63}" type="parTrans" cxnId="{17970CFD-3F0F-411F-B1CE-A5C52457D560}">
      <dgm:prSet/>
      <dgm:spPr/>
      <dgm:t>
        <a:bodyPr/>
        <a:lstStyle/>
        <a:p>
          <a:endParaRPr lang="en-US"/>
        </a:p>
      </dgm:t>
    </dgm:pt>
    <dgm:pt modelId="{66707568-E4F1-4875-80FD-51A09EBD554E}" type="sibTrans" cxnId="{17970CFD-3F0F-411F-B1CE-A5C52457D560}">
      <dgm:prSet/>
      <dgm:spPr/>
      <dgm:t>
        <a:bodyPr/>
        <a:lstStyle/>
        <a:p>
          <a:endParaRPr lang="en-US"/>
        </a:p>
      </dgm:t>
    </dgm:pt>
    <dgm:pt modelId="{6A5BDAA3-DA2C-4E36-966F-F1BBD29FD47C}">
      <dgm:prSet/>
      <dgm:spPr/>
      <dgm:t>
        <a:bodyPr/>
        <a:lstStyle/>
        <a:p>
          <a:r>
            <a:rPr lang="en-US" b="0" i="0" baseline="0"/>
            <a:t>Visualize model performance using graphs</a:t>
          </a:r>
          <a:endParaRPr lang="en-US"/>
        </a:p>
      </dgm:t>
    </dgm:pt>
    <dgm:pt modelId="{BD972BD6-ABCE-453B-9BD6-26FE9CC0534D}" type="parTrans" cxnId="{9FB42036-E528-47DC-9411-5E4BE0D2FCD0}">
      <dgm:prSet/>
      <dgm:spPr/>
      <dgm:t>
        <a:bodyPr/>
        <a:lstStyle/>
        <a:p>
          <a:endParaRPr lang="en-US"/>
        </a:p>
      </dgm:t>
    </dgm:pt>
    <dgm:pt modelId="{73445263-E40F-4B85-9DC7-1846223EC45C}" type="sibTrans" cxnId="{9FB42036-E528-47DC-9411-5E4BE0D2FCD0}">
      <dgm:prSet/>
      <dgm:spPr/>
      <dgm:t>
        <a:bodyPr/>
        <a:lstStyle/>
        <a:p>
          <a:endParaRPr lang="en-US"/>
        </a:p>
      </dgm:t>
    </dgm:pt>
    <dgm:pt modelId="{BCA24EC0-8269-4AB9-B3CF-7B40BD96CF97}" type="pres">
      <dgm:prSet presAssocID="{ADF55B56-27B3-4C32-960D-A16AF4EE92A7}" presName="Name0" presStyleCnt="0">
        <dgm:presLayoutVars>
          <dgm:dir/>
          <dgm:resizeHandles val="exact"/>
        </dgm:presLayoutVars>
      </dgm:prSet>
      <dgm:spPr/>
    </dgm:pt>
    <dgm:pt modelId="{CAF476AD-5176-4584-8D03-15D3DEB15F83}" type="pres">
      <dgm:prSet presAssocID="{633E2FB4-9E0A-4077-BC10-33A165EEA8B7}" presName="node" presStyleLbl="node1" presStyleIdx="0" presStyleCnt="6">
        <dgm:presLayoutVars>
          <dgm:bulletEnabled val="1"/>
        </dgm:presLayoutVars>
      </dgm:prSet>
      <dgm:spPr/>
    </dgm:pt>
    <dgm:pt modelId="{7702A913-B662-45FC-9CB6-CB7ED538F467}" type="pres">
      <dgm:prSet presAssocID="{6BF6A6F4-01A6-4086-9CD2-6A2C15B6CB91}" presName="sibTrans" presStyleLbl="sibTrans1D1" presStyleIdx="0" presStyleCnt="5"/>
      <dgm:spPr/>
    </dgm:pt>
    <dgm:pt modelId="{233A1385-5637-4B10-8A26-2E18B324B06B}" type="pres">
      <dgm:prSet presAssocID="{6BF6A6F4-01A6-4086-9CD2-6A2C15B6CB91}" presName="connectorText" presStyleLbl="sibTrans1D1" presStyleIdx="0" presStyleCnt="5"/>
      <dgm:spPr/>
    </dgm:pt>
    <dgm:pt modelId="{4B32E4FE-C8A6-4412-80A4-5D65867D0B43}" type="pres">
      <dgm:prSet presAssocID="{84D7ADB2-815A-4CEF-B08F-3B2A7A52522E}" presName="node" presStyleLbl="node1" presStyleIdx="1" presStyleCnt="6">
        <dgm:presLayoutVars>
          <dgm:bulletEnabled val="1"/>
        </dgm:presLayoutVars>
      </dgm:prSet>
      <dgm:spPr/>
    </dgm:pt>
    <dgm:pt modelId="{255F2269-C5C1-4EB5-9C51-B667BD0824BE}" type="pres">
      <dgm:prSet presAssocID="{AB2AC55B-D5E7-40A4-99D1-924C12E13399}" presName="sibTrans" presStyleLbl="sibTrans1D1" presStyleIdx="1" presStyleCnt="5"/>
      <dgm:spPr/>
    </dgm:pt>
    <dgm:pt modelId="{F36DEAF3-0636-476E-9DB9-AA55CDFBF1F1}" type="pres">
      <dgm:prSet presAssocID="{AB2AC55B-D5E7-40A4-99D1-924C12E13399}" presName="connectorText" presStyleLbl="sibTrans1D1" presStyleIdx="1" presStyleCnt="5"/>
      <dgm:spPr/>
    </dgm:pt>
    <dgm:pt modelId="{ED927CD4-C04E-487D-97BE-7F7C75342A30}" type="pres">
      <dgm:prSet presAssocID="{4B8B1A06-7398-4A90-AE88-D896D8445331}" presName="node" presStyleLbl="node1" presStyleIdx="2" presStyleCnt="6">
        <dgm:presLayoutVars>
          <dgm:bulletEnabled val="1"/>
        </dgm:presLayoutVars>
      </dgm:prSet>
      <dgm:spPr/>
    </dgm:pt>
    <dgm:pt modelId="{77EF1C52-1888-49EB-9099-BB168BA3ED1F}" type="pres">
      <dgm:prSet presAssocID="{A6A2F2C4-E14E-4000-B9AE-2676DE120E74}" presName="sibTrans" presStyleLbl="sibTrans1D1" presStyleIdx="2" presStyleCnt="5"/>
      <dgm:spPr/>
    </dgm:pt>
    <dgm:pt modelId="{9566DEC5-6771-4D99-84B3-6BE4476C61BB}" type="pres">
      <dgm:prSet presAssocID="{A6A2F2C4-E14E-4000-B9AE-2676DE120E74}" presName="connectorText" presStyleLbl="sibTrans1D1" presStyleIdx="2" presStyleCnt="5"/>
      <dgm:spPr/>
    </dgm:pt>
    <dgm:pt modelId="{C4F79FFE-D782-4F09-9959-E5B9ADBBDAB5}" type="pres">
      <dgm:prSet presAssocID="{ABB3C503-B792-4EE9-ABC6-36920633C95D}" presName="node" presStyleLbl="node1" presStyleIdx="3" presStyleCnt="6">
        <dgm:presLayoutVars>
          <dgm:bulletEnabled val="1"/>
        </dgm:presLayoutVars>
      </dgm:prSet>
      <dgm:spPr/>
    </dgm:pt>
    <dgm:pt modelId="{12F2085A-1B7A-4828-A8EC-C4232429ABE8}" type="pres">
      <dgm:prSet presAssocID="{8EA741B6-6D0C-4939-955A-FEC56A8CB36D}" presName="sibTrans" presStyleLbl="sibTrans1D1" presStyleIdx="3" presStyleCnt="5"/>
      <dgm:spPr/>
    </dgm:pt>
    <dgm:pt modelId="{D8759859-4485-49EA-AA27-94741D2D8F0B}" type="pres">
      <dgm:prSet presAssocID="{8EA741B6-6D0C-4939-955A-FEC56A8CB36D}" presName="connectorText" presStyleLbl="sibTrans1D1" presStyleIdx="3" presStyleCnt="5"/>
      <dgm:spPr/>
    </dgm:pt>
    <dgm:pt modelId="{661274E9-672F-48D7-A879-B697DD97629C}" type="pres">
      <dgm:prSet presAssocID="{231834C4-705E-4108-B89A-BF744D1157FB}" presName="node" presStyleLbl="node1" presStyleIdx="4" presStyleCnt="6">
        <dgm:presLayoutVars>
          <dgm:bulletEnabled val="1"/>
        </dgm:presLayoutVars>
      </dgm:prSet>
      <dgm:spPr/>
    </dgm:pt>
    <dgm:pt modelId="{C914B4B2-A01F-4DFF-88DC-E1048564A205}" type="pres">
      <dgm:prSet presAssocID="{66707568-E4F1-4875-80FD-51A09EBD554E}" presName="sibTrans" presStyleLbl="sibTrans1D1" presStyleIdx="4" presStyleCnt="5"/>
      <dgm:spPr/>
    </dgm:pt>
    <dgm:pt modelId="{08BE3D87-5C37-40D6-9AF4-C591BB414101}" type="pres">
      <dgm:prSet presAssocID="{66707568-E4F1-4875-80FD-51A09EBD554E}" presName="connectorText" presStyleLbl="sibTrans1D1" presStyleIdx="4" presStyleCnt="5"/>
      <dgm:spPr/>
    </dgm:pt>
    <dgm:pt modelId="{C8CC0C6B-175D-494F-BA97-D09468996630}" type="pres">
      <dgm:prSet presAssocID="{6A5BDAA3-DA2C-4E36-966F-F1BBD29FD47C}" presName="node" presStyleLbl="node1" presStyleIdx="5" presStyleCnt="6">
        <dgm:presLayoutVars>
          <dgm:bulletEnabled val="1"/>
        </dgm:presLayoutVars>
      </dgm:prSet>
      <dgm:spPr/>
    </dgm:pt>
  </dgm:ptLst>
  <dgm:cxnLst>
    <dgm:cxn modelId="{06AEE301-E011-4CBB-A119-8E45508A1CD5}" type="presOf" srcId="{4B8B1A06-7398-4A90-AE88-D896D8445331}" destId="{ED927CD4-C04E-487D-97BE-7F7C75342A30}" srcOrd="0" destOrd="0" presId="urn:microsoft.com/office/officeart/2016/7/layout/RepeatingBendingProcessNew"/>
    <dgm:cxn modelId="{1E8F2904-6EEB-43C6-9822-BC436A4CCDC3}" srcId="{ADF55B56-27B3-4C32-960D-A16AF4EE92A7}" destId="{ABB3C503-B792-4EE9-ABC6-36920633C95D}" srcOrd="3" destOrd="0" parTransId="{006ECDE9-4640-4F21-89D0-08E0EB1E520C}" sibTransId="{8EA741B6-6D0C-4939-955A-FEC56A8CB36D}"/>
    <dgm:cxn modelId="{CD8B2312-CF51-48FE-A8FC-A3A48D7C2AE1}" type="presOf" srcId="{231834C4-705E-4108-B89A-BF744D1157FB}" destId="{661274E9-672F-48D7-A879-B697DD97629C}" srcOrd="0" destOrd="0" presId="urn:microsoft.com/office/officeart/2016/7/layout/RepeatingBendingProcessNew"/>
    <dgm:cxn modelId="{EB176E33-CA95-4389-8FB1-66ED1E4661F2}" type="presOf" srcId="{A6A2F2C4-E14E-4000-B9AE-2676DE120E74}" destId="{9566DEC5-6771-4D99-84B3-6BE4476C61BB}" srcOrd="1" destOrd="0" presId="urn:microsoft.com/office/officeart/2016/7/layout/RepeatingBendingProcessNew"/>
    <dgm:cxn modelId="{9FB42036-E528-47DC-9411-5E4BE0D2FCD0}" srcId="{ADF55B56-27B3-4C32-960D-A16AF4EE92A7}" destId="{6A5BDAA3-DA2C-4E36-966F-F1BBD29FD47C}" srcOrd="5" destOrd="0" parTransId="{BD972BD6-ABCE-453B-9BD6-26FE9CC0534D}" sibTransId="{73445263-E40F-4B85-9DC7-1846223EC45C}"/>
    <dgm:cxn modelId="{30DA8160-22FF-46E7-9156-991D9BFD4BC6}" type="presOf" srcId="{6BF6A6F4-01A6-4086-9CD2-6A2C15B6CB91}" destId="{7702A913-B662-45FC-9CB6-CB7ED538F467}" srcOrd="0" destOrd="0" presId="urn:microsoft.com/office/officeart/2016/7/layout/RepeatingBendingProcessNew"/>
    <dgm:cxn modelId="{36D46762-BBBB-4C2E-BA7B-2BDCCBE8B43C}" srcId="{ADF55B56-27B3-4C32-960D-A16AF4EE92A7}" destId="{4B8B1A06-7398-4A90-AE88-D896D8445331}" srcOrd="2" destOrd="0" parTransId="{7374ECE9-7DDB-4951-9868-2409A36A4A4D}" sibTransId="{A6A2F2C4-E14E-4000-B9AE-2676DE120E74}"/>
    <dgm:cxn modelId="{9A8D6669-F2A9-4A87-9B99-5102E44119CF}" type="presOf" srcId="{6BF6A6F4-01A6-4086-9CD2-6A2C15B6CB91}" destId="{233A1385-5637-4B10-8A26-2E18B324B06B}" srcOrd="1" destOrd="0" presId="urn:microsoft.com/office/officeart/2016/7/layout/RepeatingBendingProcessNew"/>
    <dgm:cxn modelId="{E484076C-A7B2-4D13-8F16-CD29BFEE65BE}" srcId="{ADF55B56-27B3-4C32-960D-A16AF4EE92A7}" destId="{633E2FB4-9E0A-4077-BC10-33A165EEA8B7}" srcOrd="0" destOrd="0" parTransId="{BE58F0D2-E4BB-4460-B6BF-7CA79F8A8BBE}" sibTransId="{6BF6A6F4-01A6-4086-9CD2-6A2C15B6CB91}"/>
    <dgm:cxn modelId="{2C829C73-6703-43CC-AA4E-7A854D06BF7B}" type="presOf" srcId="{66707568-E4F1-4875-80FD-51A09EBD554E}" destId="{C914B4B2-A01F-4DFF-88DC-E1048564A205}" srcOrd="0" destOrd="0" presId="urn:microsoft.com/office/officeart/2016/7/layout/RepeatingBendingProcessNew"/>
    <dgm:cxn modelId="{09210758-F8DA-4FDD-8C4C-4563D8A24750}" type="presOf" srcId="{6A5BDAA3-DA2C-4E36-966F-F1BBD29FD47C}" destId="{C8CC0C6B-175D-494F-BA97-D09468996630}" srcOrd="0" destOrd="0" presId="urn:microsoft.com/office/officeart/2016/7/layout/RepeatingBendingProcessNew"/>
    <dgm:cxn modelId="{D42FCB79-DC8F-49A6-8C2C-A69B037E6663}" type="presOf" srcId="{A6A2F2C4-E14E-4000-B9AE-2676DE120E74}" destId="{77EF1C52-1888-49EB-9099-BB168BA3ED1F}" srcOrd="0" destOrd="0" presId="urn:microsoft.com/office/officeart/2016/7/layout/RepeatingBendingProcessNew"/>
    <dgm:cxn modelId="{4117E280-8B01-4EFF-956C-8FF8CCB509F1}" type="presOf" srcId="{66707568-E4F1-4875-80FD-51A09EBD554E}" destId="{08BE3D87-5C37-40D6-9AF4-C591BB414101}" srcOrd="1" destOrd="0" presId="urn:microsoft.com/office/officeart/2016/7/layout/RepeatingBendingProcessNew"/>
    <dgm:cxn modelId="{D0EFA081-1B2D-4A5B-88CD-2225C88E8021}" type="presOf" srcId="{8EA741B6-6D0C-4939-955A-FEC56A8CB36D}" destId="{D8759859-4485-49EA-AA27-94741D2D8F0B}" srcOrd="1" destOrd="0" presId="urn:microsoft.com/office/officeart/2016/7/layout/RepeatingBendingProcessNew"/>
    <dgm:cxn modelId="{3086D182-40E8-46EE-BA2D-46C0C97AF9B3}" type="presOf" srcId="{ADF55B56-27B3-4C32-960D-A16AF4EE92A7}" destId="{BCA24EC0-8269-4AB9-B3CF-7B40BD96CF97}" srcOrd="0" destOrd="0" presId="urn:microsoft.com/office/officeart/2016/7/layout/RepeatingBendingProcessNew"/>
    <dgm:cxn modelId="{F17C6386-25ED-4AAA-BBE0-263307A967A9}" srcId="{ADF55B56-27B3-4C32-960D-A16AF4EE92A7}" destId="{84D7ADB2-815A-4CEF-B08F-3B2A7A52522E}" srcOrd="1" destOrd="0" parTransId="{9AB64B92-9952-44BE-A0CD-89600B1EFB93}" sibTransId="{AB2AC55B-D5E7-40A4-99D1-924C12E13399}"/>
    <dgm:cxn modelId="{C1769998-EBC2-4CE0-8306-E6E8A1B38EE6}" type="presOf" srcId="{AB2AC55B-D5E7-40A4-99D1-924C12E13399}" destId="{255F2269-C5C1-4EB5-9C51-B667BD0824BE}" srcOrd="0" destOrd="0" presId="urn:microsoft.com/office/officeart/2016/7/layout/RepeatingBendingProcessNew"/>
    <dgm:cxn modelId="{551F58A8-2580-469D-AEEA-140F7E63E057}" type="presOf" srcId="{633E2FB4-9E0A-4077-BC10-33A165EEA8B7}" destId="{CAF476AD-5176-4584-8D03-15D3DEB15F83}" srcOrd="0" destOrd="0" presId="urn:microsoft.com/office/officeart/2016/7/layout/RepeatingBendingProcessNew"/>
    <dgm:cxn modelId="{8BA49CAD-4908-4027-B52C-9A9209093052}" type="presOf" srcId="{8EA741B6-6D0C-4939-955A-FEC56A8CB36D}" destId="{12F2085A-1B7A-4828-A8EC-C4232429ABE8}" srcOrd="0" destOrd="0" presId="urn:microsoft.com/office/officeart/2016/7/layout/RepeatingBendingProcessNew"/>
    <dgm:cxn modelId="{610761EE-4488-4331-98FE-F1B4E22DDC26}" type="presOf" srcId="{ABB3C503-B792-4EE9-ABC6-36920633C95D}" destId="{C4F79FFE-D782-4F09-9959-E5B9ADBBDAB5}" srcOrd="0" destOrd="0" presId="urn:microsoft.com/office/officeart/2016/7/layout/RepeatingBendingProcessNew"/>
    <dgm:cxn modelId="{DE5766F4-F1A5-44B8-8ACF-9F986C929225}" type="presOf" srcId="{AB2AC55B-D5E7-40A4-99D1-924C12E13399}" destId="{F36DEAF3-0636-476E-9DB9-AA55CDFBF1F1}" srcOrd="1" destOrd="0" presId="urn:microsoft.com/office/officeart/2016/7/layout/RepeatingBendingProcessNew"/>
    <dgm:cxn modelId="{17970CFD-3F0F-411F-B1CE-A5C52457D560}" srcId="{ADF55B56-27B3-4C32-960D-A16AF4EE92A7}" destId="{231834C4-705E-4108-B89A-BF744D1157FB}" srcOrd="4" destOrd="0" parTransId="{EE448474-6B7D-4F9D-82F2-ACF755A09C63}" sibTransId="{66707568-E4F1-4875-80FD-51A09EBD554E}"/>
    <dgm:cxn modelId="{77F63CFE-9782-4024-BFCB-FFAAB4C7F180}" type="presOf" srcId="{84D7ADB2-815A-4CEF-B08F-3B2A7A52522E}" destId="{4B32E4FE-C8A6-4412-80A4-5D65867D0B43}" srcOrd="0" destOrd="0" presId="urn:microsoft.com/office/officeart/2016/7/layout/RepeatingBendingProcessNew"/>
    <dgm:cxn modelId="{D541DBBB-CEFC-4CA3-ABBA-2BA47A3C49A4}" type="presParOf" srcId="{BCA24EC0-8269-4AB9-B3CF-7B40BD96CF97}" destId="{CAF476AD-5176-4584-8D03-15D3DEB15F83}" srcOrd="0" destOrd="0" presId="urn:microsoft.com/office/officeart/2016/7/layout/RepeatingBendingProcessNew"/>
    <dgm:cxn modelId="{AFFE6244-A28C-4FC5-B639-A869327C55EF}" type="presParOf" srcId="{BCA24EC0-8269-4AB9-B3CF-7B40BD96CF97}" destId="{7702A913-B662-45FC-9CB6-CB7ED538F467}" srcOrd="1" destOrd="0" presId="urn:microsoft.com/office/officeart/2016/7/layout/RepeatingBendingProcessNew"/>
    <dgm:cxn modelId="{056E6C2E-5D2B-4A79-B188-21299B6C0056}" type="presParOf" srcId="{7702A913-B662-45FC-9CB6-CB7ED538F467}" destId="{233A1385-5637-4B10-8A26-2E18B324B06B}" srcOrd="0" destOrd="0" presId="urn:microsoft.com/office/officeart/2016/7/layout/RepeatingBendingProcessNew"/>
    <dgm:cxn modelId="{2976C78F-76AE-4529-B20E-FD673C179DE0}" type="presParOf" srcId="{BCA24EC0-8269-4AB9-B3CF-7B40BD96CF97}" destId="{4B32E4FE-C8A6-4412-80A4-5D65867D0B43}" srcOrd="2" destOrd="0" presId="urn:microsoft.com/office/officeart/2016/7/layout/RepeatingBendingProcessNew"/>
    <dgm:cxn modelId="{2FD0E487-695D-4555-A1DC-8333AEEAAB3C}" type="presParOf" srcId="{BCA24EC0-8269-4AB9-B3CF-7B40BD96CF97}" destId="{255F2269-C5C1-4EB5-9C51-B667BD0824BE}" srcOrd="3" destOrd="0" presId="urn:microsoft.com/office/officeart/2016/7/layout/RepeatingBendingProcessNew"/>
    <dgm:cxn modelId="{044D64F9-0698-4CEE-8DC3-145AF62E4A68}" type="presParOf" srcId="{255F2269-C5C1-4EB5-9C51-B667BD0824BE}" destId="{F36DEAF3-0636-476E-9DB9-AA55CDFBF1F1}" srcOrd="0" destOrd="0" presId="urn:microsoft.com/office/officeart/2016/7/layout/RepeatingBendingProcessNew"/>
    <dgm:cxn modelId="{DA5B6331-990A-4A4D-9116-0EFAA6598B10}" type="presParOf" srcId="{BCA24EC0-8269-4AB9-B3CF-7B40BD96CF97}" destId="{ED927CD4-C04E-487D-97BE-7F7C75342A30}" srcOrd="4" destOrd="0" presId="urn:microsoft.com/office/officeart/2016/7/layout/RepeatingBendingProcessNew"/>
    <dgm:cxn modelId="{C9BBDB08-7228-4BB3-96F3-F6CDB9D73581}" type="presParOf" srcId="{BCA24EC0-8269-4AB9-B3CF-7B40BD96CF97}" destId="{77EF1C52-1888-49EB-9099-BB168BA3ED1F}" srcOrd="5" destOrd="0" presId="urn:microsoft.com/office/officeart/2016/7/layout/RepeatingBendingProcessNew"/>
    <dgm:cxn modelId="{08C849F0-E756-471E-82FF-D801F89BF35E}" type="presParOf" srcId="{77EF1C52-1888-49EB-9099-BB168BA3ED1F}" destId="{9566DEC5-6771-4D99-84B3-6BE4476C61BB}" srcOrd="0" destOrd="0" presId="urn:microsoft.com/office/officeart/2016/7/layout/RepeatingBendingProcessNew"/>
    <dgm:cxn modelId="{CC882257-0DAC-43DE-B4A3-B41318E360C2}" type="presParOf" srcId="{BCA24EC0-8269-4AB9-B3CF-7B40BD96CF97}" destId="{C4F79FFE-D782-4F09-9959-E5B9ADBBDAB5}" srcOrd="6" destOrd="0" presId="urn:microsoft.com/office/officeart/2016/7/layout/RepeatingBendingProcessNew"/>
    <dgm:cxn modelId="{978453F1-21B9-4456-A54A-4D2B9641B24F}" type="presParOf" srcId="{BCA24EC0-8269-4AB9-B3CF-7B40BD96CF97}" destId="{12F2085A-1B7A-4828-A8EC-C4232429ABE8}" srcOrd="7" destOrd="0" presId="urn:microsoft.com/office/officeart/2016/7/layout/RepeatingBendingProcessNew"/>
    <dgm:cxn modelId="{D73F150F-DEC6-4971-BA86-3D12508DA87F}" type="presParOf" srcId="{12F2085A-1B7A-4828-A8EC-C4232429ABE8}" destId="{D8759859-4485-49EA-AA27-94741D2D8F0B}" srcOrd="0" destOrd="0" presId="urn:microsoft.com/office/officeart/2016/7/layout/RepeatingBendingProcessNew"/>
    <dgm:cxn modelId="{C75B8628-8928-4E50-A090-45F987C34C62}" type="presParOf" srcId="{BCA24EC0-8269-4AB9-B3CF-7B40BD96CF97}" destId="{661274E9-672F-48D7-A879-B697DD97629C}" srcOrd="8" destOrd="0" presId="urn:microsoft.com/office/officeart/2016/7/layout/RepeatingBendingProcessNew"/>
    <dgm:cxn modelId="{E535BF28-BB8F-4A78-9749-4D4AF4C980FA}" type="presParOf" srcId="{BCA24EC0-8269-4AB9-B3CF-7B40BD96CF97}" destId="{C914B4B2-A01F-4DFF-88DC-E1048564A205}" srcOrd="9" destOrd="0" presId="urn:microsoft.com/office/officeart/2016/7/layout/RepeatingBendingProcessNew"/>
    <dgm:cxn modelId="{38A412AA-F8C8-4C32-BF08-0C3A5A4099CA}" type="presParOf" srcId="{C914B4B2-A01F-4DFF-88DC-E1048564A205}" destId="{08BE3D87-5C37-40D6-9AF4-C591BB414101}" srcOrd="0" destOrd="0" presId="urn:microsoft.com/office/officeart/2016/7/layout/RepeatingBendingProcessNew"/>
    <dgm:cxn modelId="{8555E4B2-CF4A-4AC2-A76E-4451C451B5A5}" type="presParOf" srcId="{BCA24EC0-8269-4AB9-B3CF-7B40BD96CF97}" destId="{C8CC0C6B-175D-494F-BA97-D0946899663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C9C009-BADA-407B-A957-7FBAEC6FFE7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14A926-0C3C-4607-8C46-2B83F8CA8C5F}">
      <dgm:prSet/>
      <dgm:spPr/>
      <dgm:t>
        <a:bodyPr/>
        <a:lstStyle/>
        <a:p>
          <a:r>
            <a:rPr lang="en-US" b="0" i="0" baseline="0"/>
            <a:t>Mostly use classical ML (RF, SVM, XGBoost)</a:t>
          </a:r>
          <a:endParaRPr lang="en-US"/>
        </a:p>
      </dgm:t>
    </dgm:pt>
    <dgm:pt modelId="{304149C4-37DE-491E-9298-C7047D1FE15C}" type="parTrans" cxnId="{E75110BB-473B-4796-81C6-52E9A344D552}">
      <dgm:prSet/>
      <dgm:spPr/>
      <dgm:t>
        <a:bodyPr/>
        <a:lstStyle/>
        <a:p>
          <a:endParaRPr lang="en-US"/>
        </a:p>
      </dgm:t>
    </dgm:pt>
    <dgm:pt modelId="{31B2DE65-C0EB-4784-9296-2AE8DB2A37D1}" type="sibTrans" cxnId="{E75110BB-473B-4796-81C6-52E9A344D552}">
      <dgm:prSet/>
      <dgm:spPr/>
      <dgm:t>
        <a:bodyPr/>
        <a:lstStyle/>
        <a:p>
          <a:endParaRPr lang="en-US"/>
        </a:p>
      </dgm:t>
    </dgm:pt>
    <dgm:pt modelId="{91857839-FF8E-4C9F-89DB-93715DDBC53A}">
      <dgm:prSet/>
      <dgm:spPr/>
      <dgm:t>
        <a:bodyPr/>
        <a:lstStyle/>
        <a:p>
          <a:r>
            <a:rPr lang="en-US" b="0" i="0" baseline="0"/>
            <a:t>Deep models are expensive</a:t>
          </a:r>
          <a:endParaRPr lang="en-US"/>
        </a:p>
      </dgm:t>
    </dgm:pt>
    <dgm:pt modelId="{9D6144B8-CC68-490C-B58D-643A9687B3FE}" type="parTrans" cxnId="{D62ECB49-9BE0-49E7-8753-024A3FB3F73D}">
      <dgm:prSet/>
      <dgm:spPr/>
      <dgm:t>
        <a:bodyPr/>
        <a:lstStyle/>
        <a:p>
          <a:endParaRPr lang="en-US"/>
        </a:p>
      </dgm:t>
    </dgm:pt>
    <dgm:pt modelId="{EFDB8BBB-DA96-48FD-A4DD-3C3ACC77506D}" type="sibTrans" cxnId="{D62ECB49-9BE0-49E7-8753-024A3FB3F73D}">
      <dgm:prSet/>
      <dgm:spPr/>
      <dgm:t>
        <a:bodyPr/>
        <a:lstStyle/>
        <a:p>
          <a:endParaRPr lang="en-US"/>
        </a:p>
      </dgm:t>
    </dgm:pt>
    <dgm:pt modelId="{C2EA89C5-A6EA-44AE-BE4D-ACFF1863291D}">
      <dgm:prSet/>
      <dgm:spPr/>
      <dgm:t>
        <a:bodyPr/>
        <a:lstStyle/>
        <a:p>
          <a:r>
            <a:rPr lang="en-US" b="0" i="0" baseline="0"/>
            <a:t>Overfitting risk (SMOTE, heavy tuning)</a:t>
          </a:r>
          <a:endParaRPr lang="en-US"/>
        </a:p>
      </dgm:t>
    </dgm:pt>
    <dgm:pt modelId="{D7EBECB9-A29E-4B6A-B6D2-98B2831AD77F}" type="parTrans" cxnId="{49449346-6148-4CC8-8DDF-71FCDEEE5B7B}">
      <dgm:prSet/>
      <dgm:spPr/>
      <dgm:t>
        <a:bodyPr/>
        <a:lstStyle/>
        <a:p>
          <a:endParaRPr lang="en-US"/>
        </a:p>
      </dgm:t>
    </dgm:pt>
    <dgm:pt modelId="{7A72E143-F3AD-44B2-8E7A-A201208B27C1}" type="sibTrans" cxnId="{49449346-6148-4CC8-8DDF-71FCDEEE5B7B}">
      <dgm:prSet/>
      <dgm:spPr/>
      <dgm:t>
        <a:bodyPr/>
        <a:lstStyle/>
        <a:p>
          <a:endParaRPr lang="en-US"/>
        </a:p>
      </dgm:t>
    </dgm:pt>
    <dgm:pt modelId="{C0A46E38-8BEF-41E0-B3C1-025ABABB1136}">
      <dgm:prSet/>
      <dgm:spPr/>
      <dgm:t>
        <a:bodyPr/>
        <a:lstStyle/>
        <a:p>
          <a:r>
            <a:rPr lang="en-US" b="0" i="0" baseline="0"/>
            <a:t>Less focus on simple ANN</a:t>
          </a:r>
          <a:endParaRPr lang="en-US"/>
        </a:p>
      </dgm:t>
    </dgm:pt>
    <dgm:pt modelId="{68F11F04-D275-45C3-A15F-3C8B6C8D7B4B}" type="parTrans" cxnId="{DFC6158C-8C91-4461-9B4E-68791E46E983}">
      <dgm:prSet/>
      <dgm:spPr/>
      <dgm:t>
        <a:bodyPr/>
        <a:lstStyle/>
        <a:p>
          <a:endParaRPr lang="en-US"/>
        </a:p>
      </dgm:t>
    </dgm:pt>
    <dgm:pt modelId="{04F9DC3E-47E7-4D18-B485-191086A30DA3}" type="sibTrans" cxnId="{DFC6158C-8C91-4461-9B4E-68791E46E983}">
      <dgm:prSet/>
      <dgm:spPr/>
      <dgm:t>
        <a:bodyPr/>
        <a:lstStyle/>
        <a:p>
          <a:endParaRPr lang="en-US"/>
        </a:p>
      </dgm:t>
    </dgm:pt>
    <dgm:pt modelId="{B3C5A876-4A7E-40E5-80D5-340E267E85E8}">
      <dgm:prSet/>
      <dgm:spPr/>
      <dgm:t>
        <a:bodyPr/>
        <a:lstStyle/>
        <a:p>
          <a:r>
            <a:rPr lang="en-US" b="0" i="0" baseline="0"/>
            <a:t>No lightweight real-time ANN</a:t>
          </a:r>
          <a:endParaRPr lang="en-US"/>
        </a:p>
      </dgm:t>
    </dgm:pt>
    <dgm:pt modelId="{90B13416-39F9-414D-B416-B5CCF97CC8C4}" type="parTrans" cxnId="{06DEDEB0-30B3-4346-8F5A-AB429B1D443A}">
      <dgm:prSet/>
      <dgm:spPr/>
      <dgm:t>
        <a:bodyPr/>
        <a:lstStyle/>
        <a:p>
          <a:endParaRPr lang="en-US"/>
        </a:p>
      </dgm:t>
    </dgm:pt>
    <dgm:pt modelId="{627FB8A0-A451-45AF-B9E3-3CD0488C3D26}" type="sibTrans" cxnId="{06DEDEB0-30B3-4346-8F5A-AB429B1D443A}">
      <dgm:prSet/>
      <dgm:spPr/>
      <dgm:t>
        <a:bodyPr/>
        <a:lstStyle/>
        <a:p>
          <a:endParaRPr lang="en-US"/>
        </a:p>
      </dgm:t>
    </dgm:pt>
    <dgm:pt modelId="{EF71DB42-B8D7-411F-A70D-75B007076C23}">
      <dgm:prSet/>
      <dgm:spPr/>
      <dgm:t>
        <a:bodyPr/>
        <a:lstStyle/>
        <a:p>
          <a:r>
            <a:rPr lang="en-US" b="0" i="0" baseline="0"/>
            <a:t>Focus on accuracy, not recall</a:t>
          </a:r>
          <a:endParaRPr lang="en-US"/>
        </a:p>
      </dgm:t>
    </dgm:pt>
    <dgm:pt modelId="{A745A681-B91A-49CF-A782-57298566A10E}" type="parTrans" cxnId="{56EA1ACB-0138-4A4F-9635-3A28DA54ABF8}">
      <dgm:prSet/>
      <dgm:spPr/>
      <dgm:t>
        <a:bodyPr/>
        <a:lstStyle/>
        <a:p>
          <a:endParaRPr lang="en-US"/>
        </a:p>
      </dgm:t>
    </dgm:pt>
    <dgm:pt modelId="{761CB201-9002-4B21-9DCC-892B2635C71E}" type="sibTrans" cxnId="{56EA1ACB-0138-4A4F-9635-3A28DA54ABF8}">
      <dgm:prSet/>
      <dgm:spPr/>
      <dgm:t>
        <a:bodyPr/>
        <a:lstStyle/>
        <a:p>
          <a:endParaRPr lang="en-US"/>
        </a:p>
      </dgm:t>
    </dgm:pt>
    <dgm:pt modelId="{F447A4D0-480B-40EE-9994-B612D0496937}" type="pres">
      <dgm:prSet presAssocID="{CAC9C009-BADA-407B-A957-7FBAEC6FFE79}" presName="diagram" presStyleCnt="0">
        <dgm:presLayoutVars>
          <dgm:dir/>
          <dgm:resizeHandles val="exact"/>
        </dgm:presLayoutVars>
      </dgm:prSet>
      <dgm:spPr/>
    </dgm:pt>
    <dgm:pt modelId="{0D7739C6-C157-4B45-A91A-F719CF04C6C8}" type="pres">
      <dgm:prSet presAssocID="{2B14A926-0C3C-4607-8C46-2B83F8CA8C5F}" presName="node" presStyleLbl="node1" presStyleIdx="0" presStyleCnt="6">
        <dgm:presLayoutVars>
          <dgm:bulletEnabled val="1"/>
        </dgm:presLayoutVars>
      </dgm:prSet>
      <dgm:spPr/>
    </dgm:pt>
    <dgm:pt modelId="{FF40B1FB-0F09-43E9-B98B-2348796B130A}" type="pres">
      <dgm:prSet presAssocID="{31B2DE65-C0EB-4784-9296-2AE8DB2A37D1}" presName="sibTrans" presStyleCnt="0"/>
      <dgm:spPr/>
    </dgm:pt>
    <dgm:pt modelId="{384ADFF3-3CA1-4DB4-8B44-1A1B42FF86FE}" type="pres">
      <dgm:prSet presAssocID="{91857839-FF8E-4C9F-89DB-93715DDBC53A}" presName="node" presStyleLbl="node1" presStyleIdx="1" presStyleCnt="6">
        <dgm:presLayoutVars>
          <dgm:bulletEnabled val="1"/>
        </dgm:presLayoutVars>
      </dgm:prSet>
      <dgm:spPr/>
    </dgm:pt>
    <dgm:pt modelId="{983283B3-7035-4620-A17E-835641ED4BF1}" type="pres">
      <dgm:prSet presAssocID="{EFDB8BBB-DA96-48FD-A4DD-3C3ACC77506D}" presName="sibTrans" presStyleCnt="0"/>
      <dgm:spPr/>
    </dgm:pt>
    <dgm:pt modelId="{FA9A991D-097E-4DBA-9FEE-1F8358FCB0FC}" type="pres">
      <dgm:prSet presAssocID="{C2EA89C5-A6EA-44AE-BE4D-ACFF1863291D}" presName="node" presStyleLbl="node1" presStyleIdx="2" presStyleCnt="6">
        <dgm:presLayoutVars>
          <dgm:bulletEnabled val="1"/>
        </dgm:presLayoutVars>
      </dgm:prSet>
      <dgm:spPr/>
    </dgm:pt>
    <dgm:pt modelId="{7A69DB83-E572-4310-87BF-DE2FB431F999}" type="pres">
      <dgm:prSet presAssocID="{7A72E143-F3AD-44B2-8E7A-A201208B27C1}" presName="sibTrans" presStyleCnt="0"/>
      <dgm:spPr/>
    </dgm:pt>
    <dgm:pt modelId="{90600D9D-769E-4F6F-B340-47AF2EB79378}" type="pres">
      <dgm:prSet presAssocID="{C0A46E38-8BEF-41E0-B3C1-025ABABB1136}" presName="node" presStyleLbl="node1" presStyleIdx="3" presStyleCnt="6">
        <dgm:presLayoutVars>
          <dgm:bulletEnabled val="1"/>
        </dgm:presLayoutVars>
      </dgm:prSet>
      <dgm:spPr/>
    </dgm:pt>
    <dgm:pt modelId="{AA286646-7648-48B7-BD22-C10026E78392}" type="pres">
      <dgm:prSet presAssocID="{04F9DC3E-47E7-4D18-B485-191086A30DA3}" presName="sibTrans" presStyleCnt="0"/>
      <dgm:spPr/>
    </dgm:pt>
    <dgm:pt modelId="{BF1B5783-46B2-4DA6-BA27-650373A07039}" type="pres">
      <dgm:prSet presAssocID="{B3C5A876-4A7E-40E5-80D5-340E267E85E8}" presName="node" presStyleLbl="node1" presStyleIdx="4" presStyleCnt="6">
        <dgm:presLayoutVars>
          <dgm:bulletEnabled val="1"/>
        </dgm:presLayoutVars>
      </dgm:prSet>
      <dgm:spPr/>
    </dgm:pt>
    <dgm:pt modelId="{E4C8236F-D099-4DDD-81D2-58E680393938}" type="pres">
      <dgm:prSet presAssocID="{627FB8A0-A451-45AF-B9E3-3CD0488C3D26}" presName="sibTrans" presStyleCnt="0"/>
      <dgm:spPr/>
    </dgm:pt>
    <dgm:pt modelId="{B5F15AC8-1DC2-475F-9395-CA2CA49D8C60}" type="pres">
      <dgm:prSet presAssocID="{EF71DB42-B8D7-411F-A70D-75B007076C23}" presName="node" presStyleLbl="node1" presStyleIdx="5" presStyleCnt="6">
        <dgm:presLayoutVars>
          <dgm:bulletEnabled val="1"/>
        </dgm:presLayoutVars>
      </dgm:prSet>
      <dgm:spPr/>
    </dgm:pt>
  </dgm:ptLst>
  <dgm:cxnLst>
    <dgm:cxn modelId="{BFF51223-2D12-485F-8207-C28EB696D758}" type="presOf" srcId="{B3C5A876-4A7E-40E5-80D5-340E267E85E8}" destId="{BF1B5783-46B2-4DA6-BA27-650373A07039}" srcOrd="0" destOrd="0" presId="urn:microsoft.com/office/officeart/2005/8/layout/default"/>
    <dgm:cxn modelId="{2D4E0540-591E-4A76-915D-CF5A2980013A}" type="presOf" srcId="{C2EA89C5-A6EA-44AE-BE4D-ACFF1863291D}" destId="{FA9A991D-097E-4DBA-9FEE-1F8358FCB0FC}" srcOrd="0" destOrd="0" presId="urn:microsoft.com/office/officeart/2005/8/layout/default"/>
    <dgm:cxn modelId="{49449346-6148-4CC8-8DDF-71FCDEEE5B7B}" srcId="{CAC9C009-BADA-407B-A957-7FBAEC6FFE79}" destId="{C2EA89C5-A6EA-44AE-BE4D-ACFF1863291D}" srcOrd="2" destOrd="0" parTransId="{D7EBECB9-A29E-4B6A-B6D2-98B2831AD77F}" sibTransId="{7A72E143-F3AD-44B2-8E7A-A201208B27C1}"/>
    <dgm:cxn modelId="{D62ECB49-9BE0-49E7-8753-024A3FB3F73D}" srcId="{CAC9C009-BADA-407B-A957-7FBAEC6FFE79}" destId="{91857839-FF8E-4C9F-89DB-93715DDBC53A}" srcOrd="1" destOrd="0" parTransId="{9D6144B8-CC68-490C-B58D-643A9687B3FE}" sibTransId="{EFDB8BBB-DA96-48FD-A4DD-3C3ACC77506D}"/>
    <dgm:cxn modelId="{639D3886-E2EE-4434-B2FA-06A65C06D88E}" type="presOf" srcId="{2B14A926-0C3C-4607-8C46-2B83F8CA8C5F}" destId="{0D7739C6-C157-4B45-A91A-F719CF04C6C8}" srcOrd="0" destOrd="0" presId="urn:microsoft.com/office/officeart/2005/8/layout/default"/>
    <dgm:cxn modelId="{643DB28B-59D8-4FAA-9250-37821FE72D22}" type="presOf" srcId="{91857839-FF8E-4C9F-89DB-93715DDBC53A}" destId="{384ADFF3-3CA1-4DB4-8B44-1A1B42FF86FE}" srcOrd="0" destOrd="0" presId="urn:microsoft.com/office/officeart/2005/8/layout/default"/>
    <dgm:cxn modelId="{DFC6158C-8C91-4461-9B4E-68791E46E983}" srcId="{CAC9C009-BADA-407B-A957-7FBAEC6FFE79}" destId="{C0A46E38-8BEF-41E0-B3C1-025ABABB1136}" srcOrd="3" destOrd="0" parTransId="{68F11F04-D275-45C3-A15F-3C8B6C8D7B4B}" sibTransId="{04F9DC3E-47E7-4D18-B485-191086A30DA3}"/>
    <dgm:cxn modelId="{998B3FAB-5F8B-47E2-8352-7F3F1CBABB09}" type="presOf" srcId="{C0A46E38-8BEF-41E0-B3C1-025ABABB1136}" destId="{90600D9D-769E-4F6F-B340-47AF2EB79378}" srcOrd="0" destOrd="0" presId="urn:microsoft.com/office/officeart/2005/8/layout/default"/>
    <dgm:cxn modelId="{06DEDEB0-30B3-4346-8F5A-AB429B1D443A}" srcId="{CAC9C009-BADA-407B-A957-7FBAEC6FFE79}" destId="{B3C5A876-4A7E-40E5-80D5-340E267E85E8}" srcOrd="4" destOrd="0" parTransId="{90B13416-39F9-414D-B416-B5CCF97CC8C4}" sibTransId="{627FB8A0-A451-45AF-B9E3-3CD0488C3D26}"/>
    <dgm:cxn modelId="{E75110BB-473B-4796-81C6-52E9A344D552}" srcId="{CAC9C009-BADA-407B-A957-7FBAEC6FFE79}" destId="{2B14A926-0C3C-4607-8C46-2B83F8CA8C5F}" srcOrd="0" destOrd="0" parTransId="{304149C4-37DE-491E-9298-C7047D1FE15C}" sibTransId="{31B2DE65-C0EB-4784-9296-2AE8DB2A37D1}"/>
    <dgm:cxn modelId="{56EA1ACB-0138-4A4F-9635-3A28DA54ABF8}" srcId="{CAC9C009-BADA-407B-A957-7FBAEC6FFE79}" destId="{EF71DB42-B8D7-411F-A70D-75B007076C23}" srcOrd="5" destOrd="0" parTransId="{A745A681-B91A-49CF-A782-57298566A10E}" sibTransId="{761CB201-9002-4B21-9DCC-892B2635C71E}"/>
    <dgm:cxn modelId="{782FE7EA-AE11-49A4-B81A-484E234C46E4}" type="presOf" srcId="{CAC9C009-BADA-407B-A957-7FBAEC6FFE79}" destId="{F447A4D0-480B-40EE-9994-B612D0496937}" srcOrd="0" destOrd="0" presId="urn:microsoft.com/office/officeart/2005/8/layout/default"/>
    <dgm:cxn modelId="{672E35FA-37B0-464E-B994-62CDFF3C2D3D}" type="presOf" srcId="{EF71DB42-B8D7-411F-A70D-75B007076C23}" destId="{B5F15AC8-1DC2-475F-9395-CA2CA49D8C60}" srcOrd="0" destOrd="0" presId="urn:microsoft.com/office/officeart/2005/8/layout/default"/>
    <dgm:cxn modelId="{E57193FB-1F97-4FBC-BAA0-423C85546204}" type="presParOf" srcId="{F447A4D0-480B-40EE-9994-B612D0496937}" destId="{0D7739C6-C157-4B45-A91A-F719CF04C6C8}" srcOrd="0" destOrd="0" presId="urn:microsoft.com/office/officeart/2005/8/layout/default"/>
    <dgm:cxn modelId="{515F4481-8CD9-4446-888B-BD10BD595EA3}" type="presParOf" srcId="{F447A4D0-480B-40EE-9994-B612D0496937}" destId="{FF40B1FB-0F09-43E9-B98B-2348796B130A}" srcOrd="1" destOrd="0" presId="urn:microsoft.com/office/officeart/2005/8/layout/default"/>
    <dgm:cxn modelId="{E4CABCFB-D966-4F63-8351-FC3C39EF3357}" type="presParOf" srcId="{F447A4D0-480B-40EE-9994-B612D0496937}" destId="{384ADFF3-3CA1-4DB4-8B44-1A1B42FF86FE}" srcOrd="2" destOrd="0" presId="urn:microsoft.com/office/officeart/2005/8/layout/default"/>
    <dgm:cxn modelId="{54686A62-6DA5-48EC-9591-1D5D85AFDC42}" type="presParOf" srcId="{F447A4D0-480B-40EE-9994-B612D0496937}" destId="{983283B3-7035-4620-A17E-835641ED4BF1}" srcOrd="3" destOrd="0" presId="urn:microsoft.com/office/officeart/2005/8/layout/default"/>
    <dgm:cxn modelId="{22342A63-03CF-4A99-A6E5-938E4766F3B4}" type="presParOf" srcId="{F447A4D0-480B-40EE-9994-B612D0496937}" destId="{FA9A991D-097E-4DBA-9FEE-1F8358FCB0FC}" srcOrd="4" destOrd="0" presId="urn:microsoft.com/office/officeart/2005/8/layout/default"/>
    <dgm:cxn modelId="{FD942BCB-BEEA-4243-B2D9-F0471169163B}" type="presParOf" srcId="{F447A4D0-480B-40EE-9994-B612D0496937}" destId="{7A69DB83-E572-4310-87BF-DE2FB431F999}" srcOrd="5" destOrd="0" presId="urn:microsoft.com/office/officeart/2005/8/layout/default"/>
    <dgm:cxn modelId="{0AB04A56-2738-4DA3-BB8C-F917093A504A}" type="presParOf" srcId="{F447A4D0-480B-40EE-9994-B612D0496937}" destId="{90600D9D-769E-4F6F-B340-47AF2EB79378}" srcOrd="6" destOrd="0" presId="urn:microsoft.com/office/officeart/2005/8/layout/default"/>
    <dgm:cxn modelId="{A068995D-CF71-4C72-8CED-453186B616C6}" type="presParOf" srcId="{F447A4D0-480B-40EE-9994-B612D0496937}" destId="{AA286646-7648-48B7-BD22-C10026E78392}" srcOrd="7" destOrd="0" presId="urn:microsoft.com/office/officeart/2005/8/layout/default"/>
    <dgm:cxn modelId="{8FBDAB2A-67AA-4C1C-801A-0C79FB42F6CB}" type="presParOf" srcId="{F447A4D0-480B-40EE-9994-B612D0496937}" destId="{BF1B5783-46B2-4DA6-BA27-650373A07039}" srcOrd="8" destOrd="0" presId="urn:microsoft.com/office/officeart/2005/8/layout/default"/>
    <dgm:cxn modelId="{DDB83768-3A20-4024-B5B2-29196932473D}" type="presParOf" srcId="{F447A4D0-480B-40EE-9994-B612D0496937}" destId="{E4C8236F-D099-4DDD-81D2-58E680393938}" srcOrd="9" destOrd="0" presId="urn:microsoft.com/office/officeart/2005/8/layout/default"/>
    <dgm:cxn modelId="{04A1C310-7858-400B-9188-8666364390A9}" type="presParOf" srcId="{F447A4D0-480B-40EE-9994-B612D0496937}" destId="{B5F15AC8-1DC2-475F-9395-CA2CA49D8C6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2A913-B662-45FC-9CB6-CB7ED538F467}">
      <dsp:nvSpPr>
        <dsp:cNvPr id="0" name=""/>
        <dsp:cNvSpPr/>
      </dsp:nvSpPr>
      <dsp:spPr>
        <a:xfrm>
          <a:off x="2623391" y="695969"/>
          <a:ext cx="5357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76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115" y="738857"/>
        <a:ext cx="28318" cy="5663"/>
      </dsp:txXfrm>
    </dsp:sp>
    <dsp:sp modelId="{CAF476AD-5176-4584-8D03-15D3DEB15F83}">
      <dsp:nvSpPr>
        <dsp:cNvPr id="0" name=""/>
        <dsp:cNvSpPr/>
      </dsp:nvSpPr>
      <dsp:spPr>
        <a:xfrm>
          <a:off x="162729" y="2950"/>
          <a:ext cx="2462462" cy="14774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Analyze heart disease dataset</a:t>
          </a:r>
          <a:endParaRPr lang="en-US" sz="2300" kern="1200"/>
        </a:p>
      </dsp:txBody>
      <dsp:txXfrm>
        <a:off x="162729" y="2950"/>
        <a:ext cx="2462462" cy="1477477"/>
      </dsp:txXfrm>
    </dsp:sp>
    <dsp:sp modelId="{255F2269-C5C1-4EB5-9C51-B667BD0824BE}">
      <dsp:nvSpPr>
        <dsp:cNvPr id="0" name=""/>
        <dsp:cNvSpPr/>
      </dsp:nvSpPr>
      <dsp:spPr>
        <a:xfrm>
          <a:off x="1393960" y="1478628"/>
          <a:ext cx="3028828" cy="535766"/>
        </a:xfrm>
        <a:custGeom>
          <a:avLst/>
          <a:gdLst/>
          <a:ahLst/>
          <a:cxnLst/>
          <a:rect l="0" t="0" r="0" b="0"/>
          <a:pathLst>
            <a:path>
              <a:moveTo>
                <a:pt x="3028828" y="0"/>
              </a:moveTo>
              <a:lnTo>
                <a:pt x="3028828" y="284983"/>
              </a:lnTo>
              <a:lnTo>
                <a:pt x="0" y="284983"/>
              </a:lnTo>
              <a:lnTo>
                <a:pt x="0" y="535766"/>
              </a:lnTo>
            </a:path>
          </a:pathLst>
        </a:custGeom>
        <a:noFill/>
        <a:ln w="6350" cap="flat" cmpd="sng" algn="ctr">
          <a:solidFill>
            <a:schemeClr val="accent2">
              <a:hueOff val="-2519613"/>
              <a:satOff val="0"/>
              <a:lumOff val="436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1341" y="1743679"/>
        <a:ext cx="154066" cy="5663"/>
      </dsp:txXfrm>
    </dsp:sp>
    <dsp:sp modelId="{4B32E4FE-C8A6-4412-80A4-5D65867D0B43}">
      <dsp:nvSpPr>
        <dsp:cNvPr id="0" name=""/>
        <dsp:cNvSpPr/>
      </dsp:nvSpPr>
      <dsp:spPr>
        <a:xfrm>
          <a:off x="3191558" y="2950"/>
          <a:ext cx="2462462" cy="1477477"/>
        </a:xfrm>
        <a:prstGeom prst="rect">
          <a:avLst/>
        </a:prstGeom>
        <a:solidFill>
          <a:schemeClr val="accent2">
            <a:hueOff val="-2015691"/>
            <a:satOff val="0"/>
            <a:lumOff val="3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Preprocess data for ANN</a:t>
          </a:r>
          <a:endParaRPr lang="en-US" sz="2300" kern="1200"/>
        </a:p>
      </dsp:txBody>
      <dsp:txXfrm>
        <a:off x="3191558" y="2950"/>
        <a:ext cx="2462462" cy="1477477"/>
      </dsp:txXfrm>
    </dsp:sp>
    <dsp:sp modelId="{77EF1C52-1888-49EB-9099-BB168BA3ED1F}">
      <dsp:nvSpPr>
        <dsp:cNvPr id="0" name=""/>
        <dsp:cNvSpPr/>
      </dsp:nvSpPr>
      <dsp:spPr>
        <a:xfrm>
          <a:off x="2623391" y="2739812"/>
          <a:ext cx="5357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766" y="45720"/>
              </a:lnTo>
            </a:path>
          </a:pathLst>
        </a:custGeom>
        <a:noFill/>
        <a:ln w="6350" cap="flat" cmpd="sng" algn="ctr">
          <a:solidFill>
            <a:schemeClr val="accent2">
              <a:hueOff val="-5039226"/>
              <a:satOff val="0"/>
              <a:lumOff val="87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115" y="2782701"/>
        <a:ext cx="28318" cy="5663"/>
      </dsp:txXfrm>
    </dsp:sp>
    <dsp:sp modelId="{ED927CD4-C04E-487D-97BE-7F7C75342A30}">
      <dsp:nvSpPr>
        <dsp:cNvPr id="0" name=""/>
        <dsp:cNvSpPr/>
      </dsp:nvSpPr>
      <dsp:spPr>
        <a:xfrm>
          <a:off x="162729" y="2046794"/>
          <a:ext cx="2462462" cy="1477477"/>
        </a:xfrm>
        <a:prstGeom prst="rect">
          <a:avLst/>
        </a:prstGeom>
        <a:solidFill>
          <a:schemeClr val="accent2">
            <a:hueOff val="-4031381"/>
            <a:satOff val="0"/>
            <a:lumOff val="6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Design &amp; implement ANN model</a:t>
          </a:r>
          <a:endParaRPr lang="en-US" sz="2300" kern="1200"/>
        </a:p>
      </dsp:txBody>
      <dsp:txXfrm>
        <a:off x="162729" y="2046794"/>
        <a:ext cx="2462462" cy="1477477"/>
      </dsp:txXfrm>
    </dsp:sp>
    <dsp:sp modelId="{12F2085A-1B7A-4828-A8EC-C4232429ABE8}">
      <dsp:nvSpPr>
        <dsp:cNvPr id="0" name=""/>
        <dsp:cNvSpPr/>
      </dsp:nvSpPr>
      <dsp:spPr>
        <a:xfrm>
          <a:off x="1393960" y="3522471"/>
          <a:ext cx="3028828" cy="535766"/>
        </a:xfrm>
        <a:custGeom>
          <a:avLst/>
          <a:gdLst/>
          <a:ahLst/>
          <a:cxnLst/>
          <a:rect l="0" t="0" r="0" b="0"/>
          <a:pathLst>
            <a:path>
              <a:moveTo>
                <a:pt x="3028828" y="0"/>
              </a:moveTo>
              <a:lnTo>
                <a:pt x="3028828" y="284983"/>
              </a:lnTo>
              <a:lnTo>
                <a:pt x="0" y="284983"/>
              </a:lnTo>
              <a:lnTo>
                <a:pt x="0" y="535766"/>
              </a:lnTo>
            </a:path>
          </a:pathLst>
        </a:custGeom>
        <a:noFill/>
        <a:ln w="6350" cap="flat" cmpd="sng" algn="ctr">
          <a:solidFill>
            <a:schemeClr val="accent2">
              <a:hueOff val="-7558840"/>
              <a:satOff val="0"/>
              <a:lumOff val="1308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31341" y="3787522"/>
        <a:ext cx="154066" cy="5663"/>
      </dsp:txXfrm>
    </dsp:sp>
    <dsp:sp modelId="{C4F79FFE-D782-4F09-9959-E5B9ADBBDAB5}">
      <dsp:nvSpPr>
        <dsp:cNvPr id="0" name=""/>
        <dsp:cNvSpPr/>
      </dsp:nvSpPr>
      <dsp:spPr>
        <a:xfrm>
          <a:off x="3191558" y="2046794"/>
          <a:ext cx="2462462" cy="1477477"/>
        </a:xfrm>
        <a:prstGeom prst="rect">
          <a:avLst/>
        </a:prstGeom>
        <a:solidFill>
          <a:schemeClr val="accent2">
            <a:hueOff val="-6047072"/>
            <a:satOff val="0"/>
            <a:lumOff val="10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Train using backpropagation</a:t>
          </a:r>
          <a:endParaRPr lang="en-US" sz="2300" kern="1200"/>
        </a:p>
      </dsp:txBody>
      <dsp:txXfrm>
        <a:off x="3191558" y="2046794"/>
        <a:ext cx="2462462" cy="1477477"/>
      </dsp:txXfrm>
    </dsp:sp>
    <dsp:sp modelId="{C914B4B2-A01F-4DFF-88DC-E1048564A205}">
      <dsp:nvSpPr>
        <dsp:cNvPr id="0" name=""/>
        <dsp:cNvSpPr/>
      </dsp:nvSpPr>
      <dsp:spPr>
        <a:xfrm>
          <a:off x="2623391" y="4783656"/>
          <a:ext cx="5357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766" y="45720"/>
              </a:lnTo>
            </a:path>
          </a:pathLst>
        </a:custGeom>
        <a:noFill/>
        <a:ln w="6350" cap="flat" cmpd="sng" algn="ctr">
          <a:solidFill>
            <a:schemeClr val="accent2">
              <a:hueOff val="-10078453"/>
              <a:satOff val="0"/>
              <a:lumOff val="174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115" y="4826544"/>
        <a:ext cx="28318" cy="5663"/>
      </dsp:txXfrm>
    </dsp:sp>
    <dsp:sp modelId="{661274E9-672F-48D7-A879-B697DD97629C}">
      <dsp:nvSpPr>
        <dsp:cNvPr id="0" name=""/>
        <dsp:cNvSpPr/>
      </dsp:nvSpPr>
      <dsp:spPr>
        <a:xfrm>
          <a:off x="162729" y="4090637"/>
          <a:ext cx="2462462" cy="1477477"/>
        </a:xfrm>
        <a:prstGeom prst="rect">
          <a:avLst/>
        </a:prstGeom>
        <a:solidFill>
          <a:schemeClr val="accent2">
            <a:hueOff val="-8062763"/>
            <a:satOff val="0"/>
            <a:lumOff val="139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Evaluate using Accuracy, Confusion Matrix, ROC &amp; AUC</a:t>
          </a:r>
          <a:endParaRPr lang="en-US" sz="2300" kern="1200"/>
        </a:p>
      </dsp:txBody>
      <dsp:txXfrm>
        <a:off x="162729" y="4090637"/>
        <a:ext cx="2462462" cy="1477477"/>
      </dsp:txXfrm>
    </dsp:sp>
    <dsp:sp modelId="{C8CC0C6B-175D-494F-BA97-D09468996630}">
      <dsp:nvSpPr>
        <dsp:cNvPr id="0" name=""/>
        <dsp:cNvSpPr/>
      </dsp:nvSpPr>
      <dsp:spPr>
        <a:xfrm>
          <a:off x="3191558" y="4090637"/>
          <a:ext cx="2462462" cy="1477477"/>
        </a:xfrm>
        <a:prstGeom prst="rect">
          <a:avLst/>
        </a:prstGeom>
        <a:solidFill>
          <a:schemeClr val="accent2">
            <a:hueOff val="-10078453"/>
            <a:satOff val="0"/>
            <a:lumOff val="174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63" tIns="126657" rIns="120663" bIns="12665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Visualize model performance using graphs</a:t>
          </a:r>
          <a:endParaRPr lang="en-US" sz="2300" kern="1200"/>
        </a:p>
      </dsp:txBody>
      <dsp:txXfrm>
        <a:off x="3191558" y="4090637"/>
        <a:ext cx="2462462" cy="1477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739C6-C157-4B45-A91A-F719CF04C6C8}">
      <dsp:nvSpPr>
        <dsp:cNvPr id="0" name=""/>
        <dsp:cNvSpPr/>
      </dsp:nvSpPr>
      <dsp:spPr>
        <a:xfrm>
          <a:off x="548" y="652365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Mostly use classical ML (RF, SVM, XGBoost)</a:t>
          </a:r>
          <a:endParaRPr lang="en-US" sz="2100" kern="1200"/>
        </a:p>
      </dsp:txBody>
      <dsp:txXfrm>
        <a:off x="548" y="652365"/>
        <a:ext cx="2137786" cy="1282671"/>
      </dsp:txXfrm>
    </dsp:sp>
    <dsp:sp modelId="{384ADFF3-3CA1-4DB4-8B44-1A1B42FF86FE}">
      <dsp:nvSpPr>
        <dsp:cNvPr id="0" name=""/>
        <dsp:cNvSpPr/>
      </dsp:nvSpPr>
      <dsp:spPr>
        <a:xfrm>
          <a:off x="2352112" y="652365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-4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Deep models are expensive</a:t>
          </a:r>
          <a:endParaRPr lang="en-US" sz="2100" kern="1200"/>
        </a:p>
      </dsp:txBody>
      <dsp:txXfrm>
        <a:off x="2352112" y="652365"/>
        <a:ext cx="2137786" cy="1282671"/>
      </dsp:txXfrm>
    </dsp:sp>
    <dsp:sp modelId="{FA9A991D-097E-4DBA-9FEE-1F8358FCB0FC}">
      <dsp:nvSpPr>
        <dsp:cNvPr id="0" name=""/>
        <dsp:cNvSpPr/>
      </dsp:nvSpPr>
      <dsp:spPr>
        <a:xfrm>
          <a:off x="548" y="2148816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-8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Overfitting risk (SMOTE, heavy tuning)</a:t>
          </a:r>
          <a:endParaRPr lang="en-US" sz="2100" kern="1200"/>
        </a:p>
      </dsp:txBody>
      <dsp:txXfrm>
        <a:off x="548" y="2148816"/>
        <a:ext cx="2137786" cy="1282671"/>
      </dsp:txXfrm>
    </dsp:sp>
    <dsp:sp modelId="{90600D9D-769E-4F6F-B340-47AF2EB79378}">
      <dsp:nvSpPr>
        <dsp:cNvPr id="0" name=""/>
        <dsp:cNvSpPr/>
      </dsp:nvSpPr>
      <dsp:spPr>
        <a:xfrm>
          <a:off x="2352112" y="2148816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-13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Less focus on simple ANN</a:t>
          </a:r>
          <a:endParaRPr lang="en-US" sz="2100" kern="1200"/>
        </a:p>
      </dsp:txBody>
      <dsp:txXfrm>
        <a:off x="2352112" y="2148816"/>
        <a:ext cx="2137786" cy="1282671"/>
      </dsp:txXfrm>
    </dsp:sp>
    <dsp:sp modelId="{BF1B5783-46B2-4DA6-BA27-650373A07039}">
      <dsp:nvSpPr>
        <dsp:cNvPr id="0" name=""/>
        <dsp:cNvSpPr/>
      </dsp:nvSpPr>
      <dsp:spPr>
        <a:xfrm>
          <a:off x="548" y="3645266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-17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No lightweight real-time ANN</a:t>
          </a:r>
          <a:endParaRPr lang="en-US" sz="2100" kern="1200"/>
        </a:p>
      </dsp:txBody>
      <dsp:txXfrm>
        <a:off x="548" y="3645266"/>
        <a:ext cx="2137786" cy="1282671"/>
      </dsp:txXfrm>
    </dsp:sp>
    <dsp:sp modelId="{B5F15AC8-1DC2-475F-9395-CA2CA49D8C60}">
      <dsp:nvSpPr>
        <dsp:cNvPr id="0" name=""/>
        <dsp:cNvSpPr/>
      </dsp:nvSpPr>
      <dsp:spPr>
        <a:xfrm>
          <a:off x="2352112" y="3645266"/>
          <a:ext cx="2137786" cy="1282671"/>
        </a:xfrm>
        <a:prstGeom prst="rect">
          <a:avLst/>
        </a:prstGeom>
        <a:solidFill>
          <a:schemeClr val="accent5">
            <a:hueOff val="0"/>
            <a:satOff val="0"/>
            <a:lumOff val="-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Focus on accuracy, not recall</a:t>
          </a:r>
          <a:endParaRPr lang="en-US" sz="2100" kern="1200"/>
        </a:p>
      </dsp:txBody>
      <dsp:txXfrm>
        <a:off x="2352112" y="3645266"/>
        <a:ext cx="2137786" cy="1282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7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7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7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35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2131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19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5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351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04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9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26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2/20/2026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27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8092D-B013-CD29-E5C6-CAEF490BB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392" y="256033"/>
            <a:ext cx="9970008" cy="2806241"/>
          </a:xfrm>
        </p:spPr>
        <p:txBody>
          <a:bodyPr anchor="b">
            <a:normAutofit/>
          </a:bodyPr>
          <a:lstStyle/>
          <a:p>
            <a:pPr algn="l"/>
            <a:r>
              <a:rPr lang="en-IN" dirty="0">
                <a:highlight>
                  <a:srgbClr val="C0C0C0"/>
                </a:highlight>
              </a:rPr>
              <a:t>Heart Disease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282DC-317A-7152-03F4-D7FF48BFA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5735" y="4646030"/>
            <a:ext cx="5916145" cy="1344868"/>
          </a:xfrm>
        </p:spPr>
        <p:txBody>
          <a:bodyPr anchor="t">
            <a:normAutofit fontScale="40000" lnSpcReduction="20000"/>
          </a:bodyPr>
          <a:lstStyle/>
          <a:p>
            <a:pPr algn="l"/>
            <a:r>
              <a:rPr lang="en-US" dirty="0"/>
              <a:t>2410030248-Swathi</a:t>
            </a:r>
          </a:p>
          <a:p>
            <a:pPr algn="l"/>
            <a:r>
              <a:rPr lang="en-US" dirty="0"/>
              <a:t>2410030245-vishnuchethana</a:t>
            </a:r>
          </a:p>
          <a:p>
            <a:pPr algn="l"/>
            <a:r>
              <a:rPr lang="en-IN" dirty="0"/>
              <a:t>2410030249-Nikhila</a:t>
            </a:r>
          </a:p>
          <a:p>
            <a:pPr algn="l"/>
            <a:r>
              <a:rPr lang="en-IN" dirty="0"/>
              <a:t>2410030379-Caesar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A32A9-EEB8-A9E0-A95B-F9705340FFC2}"/>
              </a:ext>
            </a:extLst>
          </p:cNvPr>
          <p:cNvSpPr txBox="1"/>
          <p:nvPr/>
        </p:nvSpPr>
        <p:spPr>
          <a:xfrm>
            <a:off x="9573768" y="3795726"/>
            <a:ext cx="313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using ANN Model</a:t>
            </a:r>
          </a:p>
        </p:txBody>
      </p:sp>
    </p:spTree>
    <p:extLst>
      <p:ext uri="{BB962C8B-B14F-4D97-AF65-F5344CB8AC3E}">
        <p14:creationId xmlns:p14="http://schemas.microsoft.com/office/powerpoint/2010/main" val="344717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3B9EE-A241-7640-F0E5-3217B20A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3E79BC9-973D-6EEC-3009-67B383C1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84143"/>
            <a:ext cx="5782586" cy="3433031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91000"/>
              </a:lnSpc>
              <a:buFont typeface="Wingdings" panose="05000000000000000000" pitchFamily="2" charset="2"/>
              <a:buChar char="Ø"/>
            </a:pPr>
            <a:r>
              <a:rPr lang="en-US" sz="2200"/>
              <a:t>Heart disease is one of the leading causes of death worldwide. According to the World Health Organization, early detection can save many lives.</a:t>
            </a:r>
          </a:p>
          <a:p>
            <a:pPr marL="457200" indent="-457200">
              <a:lnSpc>
                <a:spcPct val="91000"/>
              </a:lnSpc>
              <a:buFont typeface="Wingdings" panose="05000000000000000000" pitchFamily="2" charset="2"/>
              <a:buChar char="Ø"/>
            </a:pPr>
            <a:r>
              <a:rPr lang="en-US" sz="2200"/>
              <a:t>This project uses machine learning techniques to predict heart disease based on patient medical parameters. It helps doctors in early diagnosis and supports better clinical decision-making.</a:t>
            </a:r>
          </a:p>
          <a:p>
            <a:pPr>
              <a:lnSpc>
                <a:spcPct val="91000"/>
              </a:lnSpc>
            </a:pPr>
            <a:endParaRPr lang="en-IN" sz="2200"/>
          </a:p>
        </p:txBody>
      </p:sp>
      <p:pic>
        <p:nvPicPr>
          <p:cNvPr id="7" name="Graphic 6" descr="Heart Organ">
            <a:extLst>
              <a:ext uri="{FF2B5EF4-FFF2-40B4-BE49-F238E27FC236}">
                <a16:creationId xmlns:a16="http://schemas.microsoft.com/office/drawing/2014/main" id="{82337F30-2DB5-467B-5DEA-0FC1E972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175" y="2852382"/>
            <a:ext cx="3364792" cy="336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7789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734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BDDD7-03AC-1338-825B-C2DC099F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3212593" cy="5571066"/>
          </a:xfrm>
        </p:spPr>
        <p:txBody>
          <a:bodyPr>
            <a:normAutofit/>
          </a:bodyPr>
          <a:lstStyle/>
          <a:p>
            <a:r>
              <a:rPr lang="en-US" sz="4600" b="1"/>
              <a:t>Objectives</a:t>
            </a:r>
            <a:br>
              <a:rPr lang="en-IN" sz="4600"/>
            </a:br>
            <a:endParaRPr lang="en-IN" sz="460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DCB4515-012F-F068-79CF-ECB36B12E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215562"/>
              </p:ext>
            </p:extLst>
          </p:nvPr>
        </p:nvGraphicFramePr>
        <p:xfrm>
          <a:off x="5411638" y="643467"/>
          <a:ext cx="5816750" cy="5571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835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9AD5-ED55-1497-6592-F8DBA9BC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43011"/>
            <a:ext cx="7616952" cy="47771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9F48-7DC7-903B-E976-F592D6103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2894522"/>
            <a:ext cx="4480560" cy="2660904"/>
          </a:xfrm>
        </p:spPr>
        <p:txBody>
          <a:bodyPr/>
          <a:lstStyle/>
          <a:p>
            <a:r>
              <a:rPr lang="en-US" b="1" dirty="0"/>
              <a:t>Total Rows:</a:t>
            </a:r>
            <a:r>
              <a:rPr lang="en-US" dirty="0"/>
              <a:t> 1025</a:t>
            </a:r>
          </a:p>
          <a:p>
            <a:r>
              <a:rPr lang="en-US" b="1" dirty="0"/>
              <a:t>Total Columns:</a:t>
            </a:r>
            <a:r>
              <a:rPr lang="en-US" dirty="0"/>
              <a:t> 14</a:t>
            </a:r>
          </a:p>
          <a:p>
            <a:r>
              <a:rPr lang="en-US" b="1" dirty="0"/>
              <a:t>Data Type:</a:t>
            </a:r>
            <a:endParaRPr lang="en-US" dirty="0"/>
          </a:p>
          <a:p>
            <a:pPr lvl="1"/>
            <a:r>
              <a:rPr lang="en-US" dirty="0"/>
              <a:t>13 Integer columns</a:t>
            </a:r>
          </a:p>
          <a:p>
            <a:pPr lvl="1"/>
            <a:r>
              <a:rPr lang="en-US" dirty="0"/>
              <a:t>1 Float column (</a:t>
            </a:r>
            <a:r>
              <a:rPr lang="en-US" dirty="0" err="1"/>
              <a:t>oldpeak</a:t>
            </a:r>
            <a:r>
              <a:rPr lang="en-US" dirty="0"/>
              <a:t>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97AA6-993D-D105-7210-4ECDDAFF5F2D}"/>
              </a:ext>
            </a:extLst>
          </p:cNvPr>
          <p:cNvSpPr txBox="1"/>
          <p:nvPr/>
        </p:nvSpPr>
        <p:spPr>
          <a:xfrm>
            <a:off x="6428232" y="2807208"/>
            <a:ext cx="4791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 </a:t>
            </a:r>
            <a:r>
              <a:rPr lang="en-IN" sz="3600" b="1" dirty="0">
                <a:solidFill>
                  <a:schemeClr val="accent2"/>
                </a:solidFill>
              </a:rPr>
              <a:t>Target Variable:</a:t>
            </a:r>
          </a:p>
          <a:p>
            <a:endParaRPr lang="en-IN" b="1" dirty="0">
              <a:solidFill>
                <a:schemeClr val="accent2"/>
              </a:solidFill>
            </a:endParaRPr>
          </a:p>
          <a:p>
            <a:r>
              <a:rPr lang="en-US" dirty="0"/>
              <a:t>0 → No heart disease</a:t>
            </a:r>
          </a:p>
          <a:p>
            <a:r>
              <a:rPr lang="en-US" dirty="0"/>
              <a:t>1 → Heart disease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2766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A730-8F72-21C4-5D88-B45B8292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Important Feature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C33BD-60EE-0BBA-1ACC-9769D7C3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468880"/>
            <a:ext cx="5529072" cy="2971800"/>
          </a:xfrm>
        </p:spPr>
        <p:txBody>
          <a:bodyPr>
            <a:noAutofit/>
          </a:bodyPr>
          <a:lstStyle/>
          <a:p>
            <a:r>
              <a:rPr lang="en-IN" sz="2400" b="1" dirty="0"/>
              <a:t>👤 Age</a:t>
            </a:r>
          </a:p>
          <a:p>
            <a:r>
              <a:rPr lang="en-IN" sz="2400" dirty="0"/>
              <a:t>Min: 29</a:t>
            </a:r>
          </a:p>
          <a:p>
            <a:r>
              <a:rPr lang="en-IN" sz="2400" dirty="0"/>
              <a:t>Max: 77</a:t>
            </a:r>
          </a:p>
          <a:p>
            <a:r>
              <a:rPr lang="en-IN" sz="2400" dirty="0"/>
              <a:t>Mean: 54</a:t>
            </a:r>
          </a:p>
          <a:p>
            <a:endParaRPr lang="en-IN" sz="2400" dirty="0"/>
          </a:p>
          <a:p>
            <a:r>
              <a:rPr lang="en-IN" sz="2400" b="1" dirty="0"/>
              <a:t>❤️ Cholesterol (</a:t>
            </a:r>
            <a:r>
              <a:rPr lang="en-IN" sz="2400" b="1" dirty="0" err="1"/>
              <a:t>chol</a:t>
            </a:r>
            <a:r>
              <a:rPr lang="en-IN" sz="2400" b="1" dirty="0"/>
              <a:t>)</a:t>
            </a:r>
          </a:p>
          <a:p>
            <a:r>
              <a:rPr lang="en-IN" sz="2400" dirty="0"/>
              <a:t>Mean: 246</a:t>
            </a:r>
          </a:p>
          <a:p>
            <a:r>
              <a:rPr lang="en-IN" sz="2400" dirty="0"/>
              <a:t>Max: 564 (very high outlier present)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E3799-97E3-D829-4993-BD53FDEADC05}"/>
              </a:ext>
            </a:extLst>
          </p:cNvPr>
          <p:cNvSpPr txBox="1"/>
          <p:nvPr/>
        </p:nvSpPr>
        <p:spPr>
          <a:xfrm>
            <a:off x="6300216" y="2727139"/>
            <a:ext cx="511149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💓 Max Heart Rate (</a:t>
            </a:r>
            <a:r>
              <a:rPr lang="en-IN" sz="2800" b="1" dirty="0" err="1"/>
              <a:t>thalach</a:t>
            </a:r>
            <a:r>
              <a:rPr lang="en-IN" sz="2800" b="1" dirty="0"/>
              <a:t>)</a:t>
            </a:r>
          </a:p>
          <a:p>
            <a:r>
              <a:rPr lang="en-IN" sz="2800" dirty="0"/>
              <a:t>Mean: 149</a:t>
            </a:r>
          </a:p>
          <a:p>
            <a:r>
              <a:rPr lang="en-IN" sz="2800" dirty="0"/>
              <a:t>Range: 71 – 202</a:t>
            </a:r>
          </a:p>
          <a:p>
            <a:endParaRPr lang="en-IN" sz="2800" dirty="0"/>
          </a:p>
          <a:p>
            <a:r>
              <a:rPr lang="en-IN" sz="2800" b="1" dirty="0"/>
              <a:t>📉 </a:t>
            </a:r>
            <a:r>
              <a:rPr lang="en-IN" sz="2800" b="1" dirty="0" err="1"/>
              <a:t>Oldpeak</a:t>
            </a:r>
            <a:r>
              <a:rPr lang="en-IN" sz="2800" b="1" dirty="0"/>
              <a:t> (ST depression)</a:t>
            </a:r>
          </a:p>
          <a:p>
            <a:r>
              <a:rPr lang="en-IN" sz="2800" dirty="0"/>
              <a:t>Mean: 1.07</a:t>
            </a:r>
          </a:p>
          <a:p>
            <a:r>
              <a:rPr lang="en-IN" sz="2800" dirty="0"/>
              <a:t>Max: 6.2</a:t>
            </a:r>
          </a:p>
        </p:txBody>
      </p:sp>
    </p:spTree>
    <p:extLst>
      <p:ext uri="{BB962C8B-B14F-4D97-AF65-F5344CB8AC3E}">
        <p14:creationId xmlns:p14="http://schemas.microsoft.com/office/powerpoint/2010/main" val="119719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3DD91-4D04-B65A-9AF7-F0CD0065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/>
              <a:t>System Architecture</a:t>
            </a:r>
            <a:endParaRPr lang="en-US" sz="6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EEA065-19B1-401A-4116-AD5C95BD5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348" t="3588" r="6253" b="16998"/>
          <a:stretch>
            <a:fillRect/>
          </a:stretch>
        </p:blipFill>
        <p:spPr>
          <a:xfrm>
            <a:off x="10510" y="34834"/>
            <a:ext cx="4646835" cy="682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tx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F3E91-136B-7A3E-577B-3898D53B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19" y="2100845"/>
            <a:ext cx="4670234" cy="19755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600" b="1"/>
              <a:t>Methodology</a:t>
            </a:r>
            <a:endParaRPr lang="en-US" sz="560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0A8023-44DF-6CA7-AB4B-8E8D09105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r="-1744" b="22727"/>
          <a:stretch>
            <a:fillRect/>
          </a:stretch>
        </p:blipFill>
        <p:spPr>
          <a:xfrm>
            <a:off x="6247196" y="0"/>
            <a:ext cx="5812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5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5EFA61-F0F8-4F4A-B750-81EE924F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7810E-99DD-A3E8-7268-2C939EB3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215" y="281594"/>
            <a:ext cx="7372912" cy="1701800"/>
          </a:xfrm>
        </p:spPr>
        <p:txBody>
          <a:bodyPr>
            <a:normAutofit fontScale="90000"/>
          </a:bodyPr>
          <a:lstStyle/>
          <a:p>
            <a:r>
              <a:rPr lang="en-US" dirty="0"/>
              <a:t>PRE PROCESSING STEPS</a:t>
            </a: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F566932-3975-A96E-9612-D41BD133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" b="16843"/>
          <a:stretch>
            <a:fillRect/>
          </a:stretch>
        </p:blipFill>
        <p:spPr>
          <a:xfrm>
            <a:off x="163286" y="-76200"/>
            <a:ext cx="4655801" cy="6934200"/>
          </a:xfrm>
          <a:prstGeom prst="rect">
            <a:avLst/>
          </a:prstGeom>
        </p:spPr>
      </p:pic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70AE1C3A-9551-6E74-E8E9-F794B4E7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10" y="2587625"/>
            <a:ext cx="5927577" cy="3594100"/>
          </a:xfrm>
        </p:spPr>
        <p:txBody>
          <a:bodyPr anchor="t"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tx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DFDB8-72E5-6759-2319-53CFD16C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750" y="55553"/>
            <a:ext cx="7132322" cy="11423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LITERATURE SURVEY </a:t>
            </a: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1DC8-AF26-3031-14CE-F0414578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19" y="4372379"/>
            <a:ext cx="4670233" cy="5401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EDF11C-BA9A-7FA0-24DB-D7466D205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706"/>
            <a:ext cx="12124944" cy="543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7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0F224-6172-ADC0-452E-9903FCE8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5600" b="1"/>
              <a:t>Literature Survey – Gap Analysis</a:t>
            </a:r>
            <a:endParaRPr lang="en-IN" sz="5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7A988B8-A40A-E90A-F033-FC8C8426B7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120" y="2587752"/>
            <a:ext cx="10268712" cy="32581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Some models achieve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very high accuracy (96–99%)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advanced DL or heavy optimization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high computational cost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Many rely on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classical ML (SVM, </a:t>
            </a:r>
            <a:r>
              <a:rPr kumimoji="0" lang="en-US" altLang="en-US" sz="24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Heavy use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SMOTE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risk of overfitting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Complex architectures, not lightweight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Mostly focus on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accuracy, not real-time deployable ANN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Survey papers propose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new model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9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BEFC4-42AB-A6F4-20F0-1FAED447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4628638" cy="5571066"/>
          </a:xfrm>
        </p:spPr>
        <p:txBody>
          <a:bodyPr>
            <a:normAutofit/>
          </a:bodyPr>
          <a:lstStyle/>
          <a:p>
            <a:r>
              <a:rPr lang="en-US" b="1"/>
              <a:t>Identified Research Gaps</a:t>
            </a:r>
            <a:endParaRPr lang="en-IN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58D6E1C9-5C8B-3CB5-B249-CE9A948DF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173140"/>
              </p:ext>
            </p:extLst>
          </p:nvPr>
        </p:nvGraphicFramePr>
        <p:xfrm>
          <a:off x="6737940" y="643467"/>
          <a:ext cx="4490447" cy="5580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493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5C8F9-CB75-FDE9-E353-FD4A7815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Gap and Proposed Solution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86E9-E14A-DCC2-50AB-63F479F28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>
                <a:solidFill>
                  <a:srgbClr val="00B0F0"/>
                </a:solidFill>
              </a:rPr>
              <a:t>Existing models: </a:t>
            </a:r>
          </a:p>
          <a:p>
            <a:r>
              <a:rPr lang="en-IN" sz="1800" b="1" dirty="0"/>
              <a:t>Random Forest, SVM, </a:t>
            </a:r>
            <a:r>
              <a:rPr lang="en-IN" sz="1800" b="1" dirty="0" err="1"/>
              <a:t>XGBoost</a:t>
            </a:r>
            <a:endParaRPr lang="en-IN" sz="1800" dirty="0"/>
          </a:p>
          <a:p>
            <a:r>
              <a:rPr lang="en-IN" sz="1800" dirty="0"/>
              <a:t>Transformers need </a:t>
            </a:r>
            <a:r>
              <a:rPr lang="en-IN" sz="1800" b="1" dirty="0"/>
              <a:t>high computation</a:t>
            </a:r>
            <a:endParaRPr lang="en-IN" sz="1800" dirty="0"/>
          </a:p>
          <a:p>
            <a:r>
              <a:rPr lang="en-IN" sz="1800" dirty="0"/>
              <a:t>Focus mainly on </a:t>
            </a:r>
            <a:r>
              <a:rPr lang="en-IN" sz="1800" b="1" dirty="0"/>
              <a:t>accuracy, not false negatives</a:t>
            </a:r>
            <a:endParaRPr lang="en-IN" sz="1800" dirty="0"/>
          </a:p>
          <a:p>
            <a:r>
              <a:rPr lang="en-IN" sz="1800" dirty="0"/>
              <a:t>SMOTE may cause </a:t>
            </a:r>
            <a:r>
              <a:rPr lang="en-IN" sz="1800" b="1" dirty="0"/>
              <a:t>overfitting</a:t>
            </a:r>
            <a:endParaRPr lang="en-IN" sz="1800" dirty="0"/>
          </a:p>
          <a:p>
            <a:r>
              <a:rPr lang="en-IN" sz="1800" b="1" dirty="0">
                <a:solidFill>
                  <a:srgbClr val="00B0F0"/>
                </a:solidFill>
              </a:rPr>
              <a:t>Proposed:</a:t>
            </a:r>
            <a:endParaRPr lang="en-IN" sz="1800" dirty="0">
              <a:solidFill>
                <a:srgbClr val="00B0F0"/>
              </a:solidFill>
            </a:endParaRPr>
          </a:p>
          <a:p>
            <a:r>
              <a:rPr lang="en-IN" sz="1800" dirty="0"/>
              <a:t>Lightweight </a:t>
            </a:r>
            <a:r>
              <a:rPr lang="en-IN" sz="1800" b="1" dirty="0"/>
              <a:t>ANN model</a:t>
            </a:r>
            <a:endParaRPr lang="en-IN" sz="1800" dirty="0"/>
          </a:p>
          <a:p>
            <a:r>
              <a:rPr lang="en-IN" sz="1800" dirty="0"/>
              <a:t>Improves </a:t>
            </a:r>
            <a:r>
              <a:rPr lang="en-IN" sz="1800" b="1" dirty="0"/>
              <a:t>recall (reduces false negatives)</a:t>
            </a:r>
            <a:endParaRPr lang="en-IN" sz="1800" dirty="0"/>
          </a:p>
          <a:p>
            <a:r>
              <a:rPr lang="en-IN" sz="1800" dirty="0"/>
              <a:t>Efficient for </a:t>
            </a:r>
            <a:r>
              <a:rPr lang="en-IN" sz="1800" b="1" dirty="0"/>
              <a:t>real-time clinical use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5639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C625-3FC2-2988-AEAD-9D36107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997F-3684-F885-F0BC-C08E1250D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88" y="2551176"/>
            <a:ext cx="11247120" cy="3191256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[1] Y. Yi et al., “Transformer-Based Model with Particle Swarm Optimization for Heart Disease Prediction,” </a:t>
            </a:r>
            <a:r>
              <a:rPr lang="en-IN" i="1" dirty="0" err="1"/>
              <a:t>arXiv</a:t>
            </a:r>
            <a:r>
              <a:rPr lang="en-IN" i="1" dirty="0"/>
              <a:t> preprint</a:t>
            </a:r>
            <a:r>
              <a:rPr lang="en-IN" dirty="0"/>
              <a:t>, 2024.</a:t>
            </a:r>
          </a:p>
          <a:p>
            <a:r>
              <a:rPr lang="en-IN" dirty="0"/>
              <a:t>[2] M. Lamir et al., “A Comprehensive Machine Learning Framework for Heart Disease Prediction,” 2025.</a:t>
            </a:r>
          </a:p>
          <a:p>
            <a:r>
              <a:rPr lang="en-IN" dirty="0"/>
              <a:t>[3] S. Ingole et al., “Machine Learning-Based Risk Assessment for Heart Disease,” 2024.</a:t>
            </a:r>
          </a:p>
          <a:p>
            <a:r>
              <a:rPr lang="en-IN" dirty="0"/>
              <a:t>[4] A. Karmakar et al., “Expert System with Data Balancing Techniques for Heart Disease Prediction,” 2024.</a:t>
            </a:r>
          </a:p>
          <a:p>
            <a:r>
              <a:rPr lang="en-IN" dirty="0"/>
              <a:t>[5] “Explainable Artificial Intelligence with SMOTE and </a:t>
            </a:r>
            <a:r>
              <a:rPr lang="en-IN" dirty="0" err="1"/>
              <a:t>XGBoost</a:t>
            </a:r>
            <a:r>
              <a:rPr lang="en-IN" dirty="0"/>
              <a:t> for Heart Disease Prediction,” </a:t>
            </a:r>
            <a:r>
              <a:rPr lang="en-IN" i="1" dirty="0"/>
              <a:t>Nature</a:t>
            </a:r>
            <a:r>
              <a:rPr lang="en-IN" dirty="0"/>
              <a:t>, 2024.</a:t>
            </a:r>
          </a:p>
          <a:p>
            <a:r>
              <a:rPr lang="en-IN" dirty="0"/>
              <a:t>[6] P. Shinde et al., “Survey of Machine Learning and Deep Learning Approaches for Heart Disease Prediction,” </a:t>
            </a:r>
            <a:r>
              <a:rPr lang="en-IN" i="1" dirty="0"/>
              <a:t>The Bioscan</a:t>
            </a:r>
            <a:r>
              <a:rPr lang="en-IN" dirty="0"/>
              <a:t>, 2025.</a:t>
            </a:r>
          </a:p>
          <a:p>
            <a:r>
              <a:rPr lang="en-IN" dirty="0"/>
              <a:t>[7] S. Banerjee and R. Pacal, “Systematic Review of Machine Learning Techniques in Heart Disease Prediction,” </a:t>
            </a:r>
            <a:r>
              <a:rPr lang="en-IN" i="1" dirty="0"/>
              <a:t>PubMed Indexed Journal</a:t>
            </a:r>
            <a:r>
              <a:rPr lang="en-IN" dirty="0"/>
              <a:t>, 2025.</a:t>
            </a:r>
          </a:p>
          <a:p>
            <a:r>
              <a:rPr lang="en-IN" dirty="0"/>
              <a:t>[8] D. Dua and C. Graff, “UCI Machine Learning Repository,” University of California, Irvine, 2019. [Online]. Available: http://archive.ics.uci.edu/ml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906682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180</TotalTime>
  <Words>563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Franklin Gothic Demi Cond</vt:lpstr>
      <vt:lpstr>Franklin Gothic Medium</vt:lpstr>
      <vt:lpstr>Wingdings</vt:lpstr>
      <vt:lpstr>JuxtaposeVTI</vt:lpstr>
      <vt:lpstr>Heart Disease Prediction</vt:lpstr>
      <vt:lpstr>INTRODUCTION</vt:lpstr>
      <vt:lpstr>Objectives </vt:lpstr>
      <vt:lpstr>Dataset Overview </vt:lpstr>
      <vt:lpstr>Important Feature Insights</vt:lpstr>
      <vt:lpstr>System Architecture</vt:lpstr>
      <vt:lpstr>Methodology</vt:lpstr>
      <vt:lpstr>PRE PROCESSING STEPS</vt:lpstr>
      <vt:lpstr>LITERATURE SURVEY </vt:lpstr>
      <vt:lpstr>Literature Survey – Gap Analysis</vt:lpstr>
      <vt:lpstr>Identified Research Gaps</vt:lpstr>
      <vt:lpstr>Research Gap and Proposed Solution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JOGIPARTHI VISHNUCHETHANA .</dc:creator>
  <cp:lastModifiedBy>JOGIPARTHI VISHNUCHETHANA .</cp:lastModifiedBy>
  <cp:revision>2</cp:revision>
  <dcterms:created xsi:type="dcterms:W3CDTF">2026-02-20T07:37:35Z</dcterms:created>
  <dcterms:modified xsi:type="dcterms:W3CDTF">2026-02-20T19:25:23Z</dcterms:modified>
</cp:coreProperties>
</file>